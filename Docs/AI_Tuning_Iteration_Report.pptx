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a9eddcd428486d" /><Relationship Type="http://schemas.openxmlformats.org/officeDocument/2006/relationships/extended-properties" Target="/docProps/app.xml" Id="Rd3b5ff3d247a4aa6" /><Relationship Type="http://schemas.openxmlformats.org/officeDocument/2006/relationships/officeDocument" Target="/ppt/presentation.xml" Id="R32a45e7a3a284d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12d550a4424f75"/>
  </p:sldMasterIdLst>
  <p:notesMasterIdLst>
    <p:notesMasterId xmlns:r="http://schemas.openxmlformats.org/officeDocument/2006/relationships" r:id="R02ea1a4977754323"/>
  </p:notesMasterIdLst>
  <p:sldIdLst>
    <p:sldId xmlns:r="http://schemas.openxmlformats.org/officeDocument/2006/relationships" id="256" r:id="R52c241e382cf4b7e"/>
    <p:sldId xmlns:r="http://schemas.openxmlformats.org/officeDocument/2006/relationships" id="257" r:id="R54ef4b6a0ccd4139"/>
    <p:sldId xmlns:r="http://schemas.openxmlformats.org/officeDocument/2006/relationships" id="258" r:id="R0e637e5193b743d8"/>
    <p:sldId xmlns:r="http://schemas.openxmlformats.org/officeDocument/2006/relationships" id="259" r:id="R8ac195147bf44444"/>
    <p:sldId xmlns:r="http://schemas.openxmlformats.org/officeDocument/2006/relationships" id="260" r:id="R9ca44fc35cb9495f"/>
    <p:sldId xmlns:r="http://schemas.openxmlformats.org/officeDocument/2006/relationships" id="261" r:id="Re3c76d8a1dca4eea"/>
    <p:sldId xmlns:r="http://schemas.openxmlformats.org/officeDocument/2006/relationships" id="262" r:id="Ra72752834ced46fc"/>
    <p:sldId xmlns:r="http://schemas.openxmlformats.org/officeDocument/2006/relationships" id="263" r:id="Re7f19cc6eca74a65"/>
    <p:sldId xmlns:r="http://schemas.openxmlformats.org/officeDocument/2006/relationships" id="264" r:id="Rc303574d824949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f6ff7472c64207" /><Relationship Type="http://schemas.openxmlformats.org/officeDocument/2006/relationships/slideMaster" Target="/ppt/slideMasters/slideMaster1.xml" Id="Rbb12d550a4424f75" /><Relationship Type="http://schemas.openxmlformats.org/officeDocument/2006/relationships/notesMaster" Target="/ppt/notesMasters/notesMaster1.xml" Id="R02ea1a4977754323" /><Relationship Type="http://schemas.openxmlformats.org/officeDocument/2006/relationships/presProps" Target="/ppt/presProps.xml" Id="Rf44421602b214784" /><Relationship Type="http://schemas.openxmlformats.org/officeDocument/2006/relationships/tableStyles" Target="/ppt/tableStyles.xml" Id="R8cd1d177be624b35" /><Relationship Type="http://schemas.openxmlformats.org/officeDocument/2006/relationships/slide" Target="/ppt/slides/slide1.xml" Id="R52c241e382cf4b7e" /><Relationship Type="http://schemas.openxmlformats.org/officeDocument/2006/relationships/slide" Target="/ppt/slides/slide2.xml" Id="R54ef4b6a0ccd4139" /><Relationship Type="http://schemas.openxmlformats.org/officeDocument/2006/relationships/slide" Target="/ppt/slides/slide3.xml" Id="R0e637e5193b743d8" /><Relationship Type="http://schemas.openxmlformats.org/officeDocument/2006/relationships/slide" Target="/ppt/slides/slide4.xml" Id="R8ac195147bf44444" /><Relationship Type="http://schemas.openxmlformats.org/officeDocument/2006/relationships/slide" Target="/ppt/slides/slide5.xml" Id="R9ca44fc35cb9495f" /><Relationship Type="http://schemas.openxmlformats.org/officeDocument/2006/relationships/slide" Target="/ppt/slides/slide6.xml" Id="Re3c76d8a1dca4eea" /><Relationship Type="http://schemas.openxmlformats.org/officeDocument/2006/relationships/slide" Target="/ppt/slides/slide7.xml" Id="Ra72752834ced46fc" /><Relationship Type="http://schemas.openxmlformats.org/officeDocument/2006/relationships/slide" Target="/ppt/slides/slide8.xml" Id="Re7f19cc6eca74a65" /><Relationship Type="http://schemas.openxmlformats.org/officeDocument/2006/relationships/slide" Target="/ppt/slides/slide9.xml" Id="Rc303574d824949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639ae16ed845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65fa82d97147f8" /><Relationship Type="http://schemas.openxmlformats.org/officeDocument/2006/relationships/notesMaster" Target="/ppt/notesMasters/notesMaster1.xml" Id="R86b9ac832eca48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9cceef7910419f" /><Relationship Type="http://schemas.openxmlformats.org/officeDocument/2006/relationships/notesMaster" Target="/ppt/notesMasters/notesMaster1.xml" Id="Rda9cba01255d4d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3ba4aabb984410" /><Relationship Type="http://schemas.openxmlformats.org/officeDocument/2006/relationships/notesMaster" Target="/ppt/notesMasters/notesMaster1.xml" Id="R9812e7774cbc4d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9b636865d04407" /><Relationship Type="http://schemas.openxmlformats.org/officeDocument/2006/relationships/notesMaster" Target="/ppt/notesMasters/notesMaster1.xml" Id="Rf7160e35320547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183fbd0e1246f8" /><Relationship Type="http://schemas.openxmlformats.org/officeDocument/2006/relationships/notesMaster" Target="/ppt/notesMasters/notesMaster1.xml" Id="R770406b01f0347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b031f32e2e4ce7" /><Relationship Type="http://schemas.openxmlformats.org/officeDocument/2006/relationships/notesMaster" Target="/ppt/notesMasters/notesMaster1.xml" Id="Ra03cd4693c5849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acc30a7c96465a" /><Relationship Type="http://schemas.openxmlformats.org/officeDocument/2006/relationships/notesMaster" Target="/ppt/notesMasters/notesMaster1.xml" Id="R4b99425665b040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cbfd9a3413459e" /><Relationship Type="http://schemas.openxmlformats.org/officeDocument/2006/relationships/notesMaster" Target="/ppt/notesMasters/notesMaster1.xml" Id="R92a8d4aaec764d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721e52165949d0" /><Relationship Type="http://schemas.openxmlformats.org/officeDocument/2006/relationships/notesMaster" Target="/ppt/notesMasters/notesMaster1.xml" Id="R4625bf75944141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f6e357bf346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fc2053d6fa4eb3" /><Relationship Type="http://schemas.openxmlformats.org/officeDocument/2006/relationships/slideLayout" Target="/ppt/slideLayouts/slideLayout1.xml" Id="R5bd8a99a2d9f44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d8a99a2d9f44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3667742d148df" /><Relationship Type="http://schemas.openxmlformats.org/officeDocument/2006/relationships/notesSlide" Target="/ppt/notesSlides/notesSlide1.xml" Id="Rab185305e27d4c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44b85d7eb49ff" /><Relationship Type="http://schemas.openxmlformats.org/officeDocument/2006/relationships/notesSlide" Target="/ppt/notesSlides/notesSlide2.xml" Id="R63f5299971fb40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dc255a779458c" /><Relationship Type="http://schemas.openxmlformats.org/officeDocument/2006/relationships/notesSlide" Target="/ppt/notesSlides/notesSlide3.xml" Id="Rfb2d8325440549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10ea4e50f4205" /><Relationship Type="http://schemas.openxmlformats.org/officeDocument/2006/relationships/notesSlide" Target="/ppt/notesSlides/notesSlide4.xml" Id="Rc4dd6e83e2c142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73d67fb2b4a68" /><Relationship Type="http://schemas.openxmlformats.org/officeDocument/2006/relationships/notesSlide" Target="/ppt/notesSlides/notesSlide5.xml" Id="R9549ffaa88e44c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f56e701604d2d" /><Relationship Type="http://schemas.openxmlformats.org/officeDocument/2006/relationships/notesSlide" Target="/ppt/notesSlides/notesSlide6.xml" Id="R1391f2703ef646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26d8b8156484f" /><Relationship Type="http://schemas.openxmlformats.org/officeDocument/2006/relationships/notesSlide" Target="/ppt/notesSlides/notesSlide7.xml" Id="Rf5ca088d15ff40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8672f0845409e" /><Relationship Type="http://schemas.openxmlformats.org/officeDocument/2006/relationships/notesSlide" Target="/ppt/notesSlides/notesSlide8.xml" Id="R1140630ce0e743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ac5a8699d4a7b" /><Relationship Type="http://schemas.openxmlformats.org/officeDocument/2006/relationships/notesSlide" Target="/ppt/notesSlides/notesSlide9.xml" Id="R037f48d04b784d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6870D-51AD-4A98-9FF4-27C16951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0EDFA"/>
                </a:solidFill>
              </a:defRPr>
            </a:pPr>
            <a:r>
              <a:rPr sz="1350" b="1">
                <a:solidFill>
                  <a:srgbClr val="D0EDFA"/>
                </a:solidFill>
              </a:rPr>
              <a:t>KHAN’S INVASION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30A37-5234-48FA-AE35-DF3F61B3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AI dengeleme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ve simülasyon planı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1B346-4922-411C-9C69-0B5EF663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800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3DC"/>
                </a:solidFill>
              </a:defRPr>
            </a:pPr>
            <a:r>
              <a:rPr sz="1800" b="0">
                <a:solidFill>
                  <a:srgbClr val="C9D3DC"/>
                </a:solidFill>
              </a:rPr>
              <a:t>Ayrı çalışma branch’i • Seedli batch koşular • Ayarlanabilir savaş, ekonomi ve recruitment ağırlıkları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5C056-BF8D-454D-8180-5CC81EAF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11651-1A31-449E-91AD-6F3C8F5C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0EDFA"/>
                </a:solidFill>
              </a:defRPr>
            </a:pPr>
            <a:r>
              <a:rPr sz="1350" b="1">
                <a:solidFill>
                  <a:srgbClr val="D0EDFA"/>
                </a:solidFill>
              </a:rPr>
              <a:t>Branch: codex/ai-simulation-tuning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592DF-4FC9-4C00-9D7C-9B14D21E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0AD"/>
                </a:solidFill>
              </a:defRPr>
            </a:pPr>
            <a:r>
              <a:rPr sz="1200" b="0">
                <a:solidFill>
                  <a:srgbClr val="8EA0AD"/>
                </a:solidFill>
              </a:rPr>
              <a:t>Hazırlanan değişiklik özeti</a:t>
            </a:r>
          </a:p>
        </p:txBody>
      </p:sp>
    </p:spTree>
    <p:extLst>
      <p:ext uri="{BB962C8B-B14F-4D97-AF65-F5344CB8AC3E}">
        <p14:creationId xmlns:p14="http://schemas.microsoft.com/office/powerpoint/2010/main" val="18657482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A1465-0259-49A6-ABC5-D7832585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BULGU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3813E-70A6-44CA-8B94-54A95174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Erken oyunda AI tempo eşiği çok yüksekti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7133D-D023-4AF1-8328-D09133E3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0DDCD-BDE9-4EE1-82AE-A896CC69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16D"/>
                </a:solidFill>
              </a:defRPr>
            </a:pPr>
            <a:r>
              <a:rPr sz="1725" b="0">
                <a:solidFill>
                  <a:srgbClr val="53616D"/>
                </a:solidFill>
              </a:rPr>
              <a:t>Başlangıç ordusu 100 iken saldırı eşiği 500’dü. AI uzun süre yalnızca birikiyor; raid ve sınır baskısı geç başlıyordu.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BBC76-E91A-475F-9817-95132569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048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D5BD2-F506-418F-9429-10C9E4D6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16D"/>
                </a:solidFill>
              </a:defRPr>
            </a:pPr>
            <a:r>
              <a:rPr sz="1650" b="1">
                <a:solidFill>
                  <a:srgbClr val="53616D"/>
                </a:solidFill>
              </a:rPr>
              <a:t>Önce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D47DB-21C3-498E-B8A6-3D4DF2B6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0"/>
                </a:solidFill>
              </a:defRPr>
            </a:pPr>
            <a:r>
              <a:rPr sz="4800" b="1">
                <a:solidFill>
                  <a:srgbClr val="101820"/>
                </a:solidFill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97338-8087-4BEA-B3DB-3791D7ED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başlangıç askeri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B924A-0022-4428-A61E-9B2E3D25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5048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22A5E-0702-403B-BC16-80DA5220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�?imdi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95E34-E8E7-4E89-9D3F-4E205B68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</a:defRPr>
            </a:pPr>
            <a:r>
              <a:rPr sz="4800" b="1">
                <a:solidFill>
                  <a:srgbClr val="3D8DFF"/>
                </a:solidFill>
              </a:rPr>
              <a:t>140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02FC1-0733-4A0C-A58A-01E3EB7C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6D"/>
                </a:solidFill>
              </a:defRPr>
            </a:pPr>
            <a:r>
              <a:rPr sz="1350" b="0">
                <a:solidFill>
                  <a:srgbClr val="53616D"/>
                </a:solidFill>
              </a:rPr>
              <a:t>başlangıç askeri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6592F-6F73-41D9-A3F4-1FCEB8A9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Saldırı eşiği: 500 → 260  |  Raid eşiği: 100 → 80  |  Attack readiness: 1.20 → 1.05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90E45-7EDF-49B0-8A11-D372EB00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16D"/>
                </a:solidFill>
              </a:defRPr>
            </a:pPr>
            <a:r>
              <a:rPr sz="750" b="1">
                <a:solidFill>
                  <a:srgbClr val="53616D"/>
                </a:solidFill>
              </a:rPr>
              <a:t>KHAN'S INVASION  /  AI TUNING BRANCH  /  2</a:t>
            </a:r>
          </a:p>
        </p:txBody>
      </p:sp>
    </p:spTree>
    <p:extLst>
      <p:ext uri="{BB962C8B-B14F-4D97-AF65-F5344CB8AC3E}">
        <p14:creationId xmlns:p14="http://schemas.microsoft.com/office/powerpoint/2010/main" val="11453517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CBA343-20CD-4FB9-983D-FE410D3F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DE�?ER DE�?İ�?İKLİKLERİ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6E5DB-25C0-49AB-A9BC-8217735E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Savaş ve conquest ağırlıkları kontrollü biçimde hızlandırıldı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56317-3564-4279-87F1-C76044E7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11C21-16E0-49C7-A84F-B7CCEC76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3383C-A098-4190-814D-F08A715A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Attack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DD95C-2FA9-438F-BFB7-EEDA67EA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621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1.20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677BB-5ED2-4B36-8D0B-A8CF3122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1.05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947E4-8D0F-4424-B90C-513DB013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621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Daha erken ama hâlâ üstünlük arayan saldırı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60276-E257-46BE-AB91-2BCAD456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815CD-9F4C-457F-AB85-6C6E22E2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Raid readiness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C8828-4FA2-48A6-9D02-983E1ECA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62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0.75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BAADD-6928-4AF2-86EB-8004F6EE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62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72643-06F7-45E8-BDD8-2E0DABB2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621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Sınır çatışmasını erken oyuna taşır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2A350-7361-42A0-A47D-136EF394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02C8F-0FBF-47D9-8112-5B376C52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Raid aggression level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99F5B-3B9E-427C-AA71-EAD1993A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62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5565C-3416-4731-8100-1B5566AB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1B060-EA7F-4CC9-A151-5ED85DC3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622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Düşük-orta agresif ülkeler raid yapabilir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8CA10-FBB5-4FE8-BA1B-C4BC298B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4A7C3-D7EA-46EC-84AD-89DE6716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Siege aggression level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4173E-7F05-4428-9ABD-BC2F9E84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622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15CE8-E8EC-4387-BC77-EC8BB27E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622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5BA3A-206B-40C6-930C-93BB72F3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622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En agresif davranış erişilebilir olur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40AAB6-740A-4CC9-8727-F797FD09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09A08-1758-4AE2-9091-1FC6A748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Raid effectiveness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0DCEA-40E3-47EC-9409-6FF4B40C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62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A91640-AB2D-412C-BAE5-744FE5A2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62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0.55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BF7520-0BE8-42D9-B1F5-0D64450A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623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Başarılı raid ekonomik olarak anlamlı olur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F6B92A-1415-46A4-914A-740070DC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603C48-50F1-4F6D-AD3C-59A699D9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Raids before conquest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A8A0B6-FA9F-4A7B-BA04-2667B056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623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A92FBF-2ECB-41DF-AF13-FA80AC8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623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2210CD-C418-412F-B626-D653C2F9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Tekrarlı baskı olmadan toprak devri yok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A400CF-D432-4C1F-B49C-002B2F7C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8FB0A8-DB17-463C-AABC-3386FE33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Conquest minimum provinces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C513FE-EFEE-4949-93D7-F8A39AE6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624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7293F0-6A5C-4BA4-A5F3-DC651309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624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0FE482-1331-4386-A9D7-BB64279F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624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Orta ölçekli devletler oyuna katılır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6B167D-533A-41D3-9B7B-9B2F9312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6A9459-C178-48D8-A62B-3748D14F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Conquest readiness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45FA78-9A0B-4ECA-B89D-64514044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624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0.90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7EF806-1EB5-4043-9E79-110238E2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624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1.00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8D2D1B-6AE6-4E46-8044-0C80C411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Eşit güçte olmadan fetih yok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32D0DF-87B9-4DFD-84A4-BCA8D78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16D"/>
                </a:solidFill>
              </a:defRPr>
            </a:pPr>
            <a:r>
              <a:rPr sz="750" b="1">
                <a:solidFill>
                  <a:srgbClr val="53616D"/>
                </a:solidFill>
              </a:rPr>
              <a:t>KHAN'S INVASION  /  AI TUNING BRANCH  /  3</a:t>
            </a:r>
          </a:p>
        </p:txBody>
      </p:sp>
    </p:spTree>
    <p:extLst>
      <p:ext uri="{BB962C8B-B14F-4D97-AF65-F5344CB8AC3E}">
        <p14:creationId xmlns:p14="http://schemas.microsoft.com/office/powerpoint/2010/main" val="928868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667C75-FCD8-4B59-AFFB-08B7C0B9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DE�?ER DE�?İ�?İKLİKLERİ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370B7-E543-487B-B70F-ACD491F2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Ekonomi ve recruitment artık aynı tempoyu paylaşacak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0F79A-1A95-40CB-B22F-1ED1D5DC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58150-718A-490C-A185-5247269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1C9A7-7C74-4EC3-A6F7-43DCB985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AI treasury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E08A6-4971-4C38-A6E5-CDB1F1B3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621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300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120A3-A8C9-43C2-8A8E-2D4CF419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260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2413C-5E05-4006-8055-BAF2BCFC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621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Erken yatırım için daha az atıl para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7E240-1375-4FA0-8F85-61DBFE2B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B149A-02DE-49B7-8F60-E055A64E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Recruit population fraction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6ECB8-94E1-455D-9C79-AE1325E2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62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EF1F9-5C05-40B2-9D43-166E1755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62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49E59-C079-4A8B-B622-535C3F06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621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�?ehir nüfusu bir turda tüketilmez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83097-CDF8-4E84-9A4E-B2DBE435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6E086-30AE-4A57-8D17-CB63C63D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Recruit cap / province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7B17C-C988-435F-8D90-4378AD94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62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350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56356-1548-4D3C-B6B3-4507C192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220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DF133-90CF-4086-B71D-36194ECF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622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Tek province’den aşırı asker akışı engellenir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D0C66-0376-4623-BF6A-1256DC02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55FDB-C512-4667-BBEE-86A7D926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Max army size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95DBD-C28A-45E5-847B-BC2DCEC2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622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1B3F6-2088-4C54-842D-8CCCA670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622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650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BCCAF0-B1B7-47DB-9585-75D945D4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622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Tek dev stack yerine daha çok saha ordusu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C47FB-AEA2-42A4-8568-04A006F2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7A8BFC-68C5-4E6D-B607-10196601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Development reserve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62AAA5-F73D-4A41-A355-6323EA80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62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42C400-DD42-48D7-A3F4-6D25F34D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62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80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312713-1FBD-4389-82C4-50A6ED32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623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Bina kurma bütçesi görünür parametre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19B1E5-F8D1-4D25-9C7C-D34821C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09B9E3-77C0-4A67-AA28-CB3393FF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Buildings / turn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836471-3E94-40DF-B2F4-59BEB293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623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5 (hard-coded)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C74A1F-2B40-465B-B240-0A8C7CE9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623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B49695-3209-422F-80F0-8935DC02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Ekonomi patlamasını sınırlar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02A7AC-1517-4A73-95BB-C11D0C8F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5B75D8-44E9-492E-A7DB-96B3B844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Barracks base score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20D67F-3E47-49F7-9008-6311C19F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624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C5DF55-AE4E-4890-93B8-991EAD94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624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545085-2BB6-4CFC-86BE-4024E7F0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624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Asker üretim altyapısı öncelik kazanır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394CBA-48A6-4CFB-BA8B-AD490D8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8AC3C1-AB4D-4851-86A2-57E8427A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No-army barracks multiplier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01343C-0CBB-4706-BC49-DC4A6BAC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624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5 (unused)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2FC5E0-BC6C-446E-9267-9C5E52D3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624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3.5 (active)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F53AF0-0F98-4FE0-8E09-9E647553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Değeri artık gerçekten karar skoruna girer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F4A349-FF4C-4B45-8888-915E1D43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16D"/>
                </a:solidFill>
              </a:defRPr>
            </a:pPr>
            <a:r>
              <a:rPr sz="750" b="1">
                <a:solidFill>
                  <a:srgbClr val="53616D"/>
                </a:solidFill>
              </a:rPr>
              <a:t>KHAN'S INVASION  /  AI TUNING BRANCH  /  4</a:t>
            </a:r>
          </a:p>
        </p:txBody>
      </p:sp>
    </p:spTree>
    <p:extLst>
      <p:ext uri="{BB962C8B-B14F-4D97-AF65-F5344CB8AC3E}">
        <p14:creationId xmlns:p14="http://schemas.microsoft.com/office/powerpoint/2010/main" val="529358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90C864-A204-40C3-B31E-76FDDE19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YENİ TEST YÜZEYİ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A3584-CFB5-4FFF-BA07-B62C1922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Simülasyon artık tekrarlanabilir deney olarak koşabilir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77611-DB2A-4B0E-A182-D6999EC7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B8C9B-861B-4D00-9948-03C842E9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16D"/>
                </a:solidFill>
              </a:defRPr>
            </a:pPr>
            <a:r>
              <a:rPr sz="1650" b="0">
                <a:solidFill>
                  <a:srgbClr val="53616D"/>
                </a:solidFill>
              </a:rPr>
              <a:t>Her run aynı seed, tur sayısı ve ayarlarla çalışır; sonuçlar karşılaştırılabilir metin raporlarına ayrılır.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8ECBA-5138-4645-8A1F-D91964A8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333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61210-5A5F-4BB8-8186-DE45D708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</a:defRPr>
            </a:pPr>
            <a:r>
              <a:rPr sz="3150" b="1">
                <a:solidFill>
                  <a:srgbClr val="10182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70E07-51C4-44F4-9AF9-F27DDE99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051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Seedli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F5C69-BE84-4369-A3CF-9BD8F98D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-khansSimSeed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084C2-DDA0-4386-B276-7A0ACEEA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2333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292F5-519C-45EE-824D-AD27B842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47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</a:defRPr>
            </a:pPr>
            <a:r>
              <a:rPr sz="3150" b="1">
                <a:solidFill>
                  <a:srgbClr val="101820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1DD01-933D-4ACA-B7AE-E322E8BE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051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80 tur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D2F01-8398-4407-BF9E-B83C7169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338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-khansSimTurns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1ED5D-010F-4F0D-B2D2-2C1CF51F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28875"/>
            <a:ext cx="2333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38999-A4EC-49F6-A178-BA888692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</a:defRPr>
            </a:pPr>
            <a:r>
              <a:rPr sz="3150" b="1">
                <a:solidFill>
                  <a:srgbClr val="101820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BF3D1-2866-481A-B88C-3CF29A75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051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Ayrı rapor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4D401-AD1E-4B53-B904-E5EB1670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simulation_seed_N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14A1C-4642-4F13-978F-209EBEE3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28875"/>
            <a:ext cx="2333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93ADF-0567-4178-A3E2-BE469857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647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479DA-167B-40AE-BF21-02AA56A1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051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CSV özet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CE00D-5F47-4E80-92B4-60C7861F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7338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PASS / FAIL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88992-B7E4-46C5-9243-64598683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Tools/RunAISimulationSweep.ps1 Unity proje kilidi kalkınca 12 farklı seed’i sırayla çalıştırır.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132FA-0947-40D0-9CED-E66CD01F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D"/>
                </a:solidFill>
              </a:defRPr>
            </a:pPr>
            <a:r>
              <a:rPr sz="1500" b="0">
                <a:solidFill>
                  <a:srgbClr val="53616D"/>
                </a:solidFill>
              </a:rPr>
              <a:t>Bir sonraki karar: sonuçlardaki savaş/raid/fetih oranlarını ekleyip aday ağırlıkları baseline ile puanlamak.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AE890-539A-4EA0-9F65-69B704F7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16D"/>
                </a:solidFill>
              </a:defRPr>
            </a:pPr>
            <a:r>
              <a:rPr sz="750" b="1">
                <a:solidFill>
                  <a:srgbClr val="53616D"/>
                </a:solidFill>
              </a:rPr>
              <a:t>KHAN'S INVASION  /  AI TUNING BRANCH  /  5</a:t>
            </a:r>
          </a:p>
        </p:txBody>
      </p:sp>
    </p:spTree>
    <p:extLst>
      <p:ext uri="{BB962C8B-B14F-4D97-AF65-F5344CB8AC3E}">
        <p14:creationId xmlns:p14="http://schemas.microsoft.com/office/powerpoint/2010/main" val="1795097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51A84A-3C33-4B2C-8934-D2DF6D85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APPENDIX / ALL CHANGED VALUES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5049F-4E5B-4A9C-A07E-F4F71830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Full tuning diff: pressure and targeting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6193A-51BE-4A47-9276-FC395A38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32DEB-5423-4018-8581-FCB07A4F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C4F74-A2BE-408B-9BAE-A05E5318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Strong readiness ratio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10107-8377-4CEB-9D1D-94220847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66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1.50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6C9D9-F6DA-49E4-80AD-D8E1F16D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66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1.30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27094-C49E-4870-9570-F69E0AAB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668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Earlier decisive attack window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8EF5E-F398-4199-940C-DCE21612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05B25-E333-4E37-B62F-6634F3FE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Weak readiness ratio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34100-8DF3-4CDE-B0C0-F2DEA8E4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669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A9315-8091-4AC4-99FD-822676A4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669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0.75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ECB3E-9134-446E-887C-3DF3FA2F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669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Less passive against weak targets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6D905-7A2F-4273-B00D-A55538F5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53C01-14D6-47D3-97AD-9DFDCDF2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Player neighbor strength weight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6DF35-8881-4112-8E76-9F314FC9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01AAF-2794-4CDF-BE7C-7EB31215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669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7CDCA-2AEF-4007-9C88-541956F1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More respect for defended borders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39006-01F2-4796-AD62-04B6E6B8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83F4F-6F80-41CE-ADE7-F1DB2DA1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Player target score multiplier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09D7DC-C719-403E-968C-B5C6E1EB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670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0.35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F12C3-9D0A-40FC-8118-C8CD8145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643CA-8700-4255-B76E-1F8E62DB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670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Player remains a relevant 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128C3-D8A8-4AF3-AE75-A6C9A3EA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70F19C-9E21-416C-A847-D853275E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Strong aggression bonus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F920B7-E09F-4CF4-B8ED-0F761571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670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55251-90FF-4570-9047-20C06FE9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670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8213C-1C2E-4CA1-979E-FEDF5512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Aggressive nations lean into attack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7DA014-0EA1-4C38-A021-39BD2566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2C6F93-4F55-47FC-8A3D-6CF4E92D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Weak aggression penalty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D73383-4574-4E0F-A21B-0F9AD5DD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671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19106D-C02A-49AC-855D-079D12C5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671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544C0E-792E-4FBF-BBA2-DA65DAF5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671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Low aggression nations hesitate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C15A28-3A1E-4A31-8303-124870CD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7CFAD8-6D0F-4F71-8796-F22F4C30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Scout / attack aggression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5EE482-0E72-43AE-B4F1-0AACC821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67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3 /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04045C-42EA-4E3D-A8E4-0AA9F767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67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2 / 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0681A9-E7FE-4E02-B19F-EA417FFC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671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Scouting and attack unlock earlier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62108B-C1B4-47E3-9D50-1ECE44F6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1444B3-7055-4C61-A826-A66C25C4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Capital attack bonus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7451DC-4062-4228-9414-DD3362CD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67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2EC634-9AB2-4E16-8442-C3522ABB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67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125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47F2E0-1AA0-4EB5-A16E-D5FA0E7F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672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Capital pressure matters more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C66CB9-786D-47B9-988D-34C5C65F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0C8D62-6AB5-49AA-AD5B-44B9BB91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Border attack bonus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F35757-0F6B-4411-94EE-F6BEB71F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672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25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EA707D-E222-4BE2-9F15-A77BC3EB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672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30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79D18F-ADF9-4DBC-8E5B-9D9123A9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672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Adjacent fronts are preferred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008DB9-DF45-48B0-BBDE-5A80BAAC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FE9A86-ED26-4ACC-B3D9-C0A00E10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Enemy weakness / richness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4EDA29-776A-4748-BCE9-FB5F9482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67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50 / 1.00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F330FC-C37C-45C2-A098-BD9E6E6A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67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55 / 1.25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EBA3A6-8661-4E10-BF97-78EDA5CA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673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Better target selection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A8DB33-DCF8-4DDD-9086-50F86BD9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16D"/>
                </a:solidFill>
              </a:defRPr>
            </a:pPr>
            <a:r>
              <a:rPr sz="750" b="1">
                <a:solidFill>
                  <a:srgbClr val="53616D"/>
                </a:solidFill>
              </a:rPr>
              <a:t>KHAN'S INVASION  /  AI TUNING BRANCH  /  6</a:t>
            </a:r>
          </a:p>
        </p:txBody>
      </p:sp>
    </p:spTree>
    <p:extLst>
      <p:ext uri="{BB962C8B-B14F-4D97-AF65-F5344CB8AC3E}">
        <p14:creationId xmlns:p14="http://schemas.microsoft.com/office/powerpoint/2010/main" val="16965068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27454A-359C-4FA9-AE2D-1D99F438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APPENDIX / ALL CHANGED VALUES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B5A89-9892-4172-B2E1-CD9FD24F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Full tuning diff: raids, conquest and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6909F-8067-4A55-9901-C284A1A8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AC977-4D0F-4143-9C66-21E303C1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FA1FE-DEB3-4DE2-97AD-43B166C0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Siege aggression level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745DD-BA29-4E1E-9063-526F026B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66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292A8-DE78-4D13-B22C-C7A50D49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66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94C5D-6387-4C6D-8B9A-C4C64E72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668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Siege no longer requires extreme aggression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C6B36-2DC3-4AEC-911A-228AA1EB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08FF2-FF32-4C9B-8364-65A53453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Raid pressure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0BCAA-75F0-4CF2-ACEA-E347B2FD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669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6 turns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CC116-64B5-4B73-8FDF-E42F377C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669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8 turns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BD607-3CA1-4C1B-9EF3-B3074597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669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Repeated raids retain strategic meaning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19B94-76BF-4827-81C7-3C786931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53EE9-A2FE-4888-8304-7F5A579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Raid-to-siege aggression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DA551-E56B-46BD-BACE-4B389F65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default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FB19B-C5CD-43C7-8833-DDAD4CB6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669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CCC09-C441-4776-AB41-FF4D0654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Siege follows sustained raid pressure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EBEA3-B4C0-4985-974B-8889AC1B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96EED-97A3-48DA-B217-30D482C2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Conquest province ratio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AB8117-C131-4B34-AD27-5B9E8064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670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442EC3-4AA2-421C-A7DF-91ABED5C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47E8E-6E71-41B4-A261-5F8306E4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670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Smaller victories can change ownership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7890F-4B6D-44CB-B13C-73806866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1B38BA-71E9-487B-951D-1CE09DF9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Max armies moved / turn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4BE28-D79B-4EA6-8D3C-497985C7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670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B3108-E77D-44AF-94C9-8F991C0B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670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DF7501-A561-496E-B271-661060DA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Avoids one-turn map-wide swings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A85C77-3D1E-45F6-8C09-3A7870B5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FAE65A-4984-4596-8DCF-A8C2EF54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Max attack orders / turn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44B437-BDD4-4546-81BB-BB7B55E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671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B36C5F-0817-4C1A-AE30-E22E924E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671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3BAA0F-1812-4B35-8679-507B08B3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671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Keeps wars readable and testable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DBA418-1631-46D5-BF3D-F666BDCA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6027B1-C432-4573-92C6-3952EEA6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Allow field recruitment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2B0449-6B37-4364-9792-792FACDC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67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off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3277A3-075C-400B-954B-B05607BC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67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60F264-9FB8-4B3A-B512-3EA4C401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671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AI can reinforce exposed forces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66E4E9-2EF6-440B-991B-2A77B989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0ED2AF-C8BA-4964-AF5F-29BBDB49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Fortress raiding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64346B-F908-42EB-B920-1C381261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67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allowed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922E66-DA4D-47B4-9FFB-3E56F457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67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blocked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D08C00-852C-4C96-B758-D3DA1DEB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672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Stops low-value fortress raid loops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04CBDC-2B7B-42FE-AE37-8F8A11AF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D32504-485F-497C-AA6F-A6F7B80F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War intent diagnostics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DB0202-8DE7-4FE6-8582-01185D63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672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off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7AA4D2-3E35-4CB4-AC48-9520802F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672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D7633B-D23D-42EB-AA44-24E86DFA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672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Reports explain strategic choices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93ECBF-5122-4239-9F27-516DECFA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16D"/>
                </a:solidFill>
              </a:defRPr>
            </a:pPr>
            <a:r>
              <a:rPr sz="750" b="1">
                <a:solidFill>
                  <a:srgbClr val="53616D"/>
                </a:solidFill>
              </a:rPr>
              <a:t>KHAN'S INVASION  /  AI TUNING BRANCH  /  7</a:t>
            </a:r>
          </a:p>
        </p:txBody>
      </p:sp>
    </p:spTree>
    <p:extLst>
      <p:ext uri="{BB962C8B-B14F-4D97-AF65-F5344CB8AC3E}">
        <p14:creationId xmlns:p14="http://schemas.microsoft.com/office/powerpoint/2010/main" val="2233822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5EC1AE-75A8-4A9F-9F54-08CF2D79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APPENDIX / ALL CHANGED VALUES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4047B-0F97-41D4-BFCB-542C4DF4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Full tuning diff: economy, growth and building scoring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4652E-42F7-42BA-B13C-51FBC12F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15BBD-ECCA-4234-8DE4-8CE47964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FBC4B-11C1-4BEF-8E99-BDC2405E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Population saturation threshold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4F2BD-BC6F-4B95-9990-A08BFD1C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66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22752-A88B-439A-B74C-CA91B42A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66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B4377-0503-42F6-8D03-936E0353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668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Housing is considered before hard cap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4B6D0-CB30-4E57-86DB-C5275534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BE304-8EDB-49E7-A6C2-81E48C7C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Base farm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289B0-89BD-4984-9D12-28143298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669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446A4-45BC-4F48-A176-7FD799C4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669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C5405-D723-48F0-85DA-0A9EFDC6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669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Food/population growth gains priority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98DE4-50ED-4DCC-90BD-F5F7927A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74527-5B53-4051-84A5-2DC56852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Base housing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A56EC-0D8D-4F72-9F8F-6BAD310D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F614C-0F74-4949-AC64-C3AB4B4C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669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6FEA3-8B12-44C0-8F56-86CDF1F9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Capacity pressure is addressed earlier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59BBA-35AC-49B7-96A6-006252D2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FF16D-0C95-4D88-BE5F-CBE50EC7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Base fortress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D0A76-6BFE-410C-96CC-3D89D6EC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670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91F85-B16B-4684-BB0B-A4757DD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F3ED8-4F97-4065-8DC1-D9FF9F97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670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Defensive investment becomes viable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0674DC-8956-4D51-8783-40AED9C6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43081F-84DE-4832-B6B0-03BACF0E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Base trade 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7D404B-CBD4-43FF-8CE6-B9A5DEC6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670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3C230B-B816-4539-AAC6-60D53704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670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393A5F-0C3D-4499-91B4-8611C52B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Trade no longer dominates early spending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F484ED-86B5-4EAE-9D13-ED2E325F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04BC4D-267E-4FAB-A1DA-C9101B5A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Distance-to-capital penalty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42E846-8B4A-46FF-A74D-CABA8856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671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2.00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8257C8-8F1B-4161-844A-4840E318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671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1.20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DC6BA9-FE90-4106-B65E-5D0B020C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671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Outlying cities are not ignored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38B8C2-9272-480D-934E-119EB5DE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63A126-E89C-4DDB-A671-1E24A6F9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Province importance weight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C0EEC8-0472-4EBF-97E0-928FF07A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67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0.50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1A4D0B-4F15-48CC-960E-C7016DAD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67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0.75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68569F-64F1-4546-BB95-8D295E7E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671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High-value provinces receive investment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999086-D7F5-4054-B687-40CE3031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E85997-6169-4AF1-9B00-3FDC0BC5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No-army barracks multiplier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261B9C-3E8D-4E38-AB3F-8E96CF0C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67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5 unused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76CB08-3026-4C61-AB26-D0621E84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672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3.5 active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5F5EB-3D62-4B11-91AF-627B3FDD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672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The multiplier now affects actual score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7F2103-70A7-490C-B362-F046E27F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074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E2E920-EAB9-48B9-8666-C910EF8A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Development reserve / buildings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AAFF48-11FB-4A06-8D2F-DCA9BC50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672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new: 80 / 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1548AB-5D53-4165-8AC7-56FEFC3A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672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new: 80 / 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C87525-0411-4E11-836C-7681A4CB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672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D"/>
                </a:solidFill>
              </a:defRPr>
            </a:pPr>
            <a:r>
              <a:rPr sz="1200" b="0">
                <a:solidFill>
                  <a:srgbClr val="53616D"/>
                </a:solidFill>
              </a:rPr>
              <a:t>Replaces 5 hard-coded builds per turn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F37D31-E69B-4B24-95AE-8AB3D945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16D"/>
                </a:solidFill>
              </a:defRPr>
            </a:pPr>
            <a:r>
              <a:rPr sz="750" b="1">
                <a:solidFill>
                  <a:srgbClr val="53616D"/>
                </a:solidFill>
              </a:rPr>
              <a:t>KHAN'S INVASION  /  AI TUNING BRANCH  /  8</a:t>
            </a:r>
          </a:p>
        </p:txBody>
      </p:sp>
    </p:spTree>
    <p:extLst>
      <p:ext uri="{BB962C8B-B14F-4D97-AF65-F5344CB8AC3E}">
        <p14:creationId xmlns:p14="http://schemas.microsoft.com/office/powerpoint/2010/main" val="18363614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E05DE-FAD8-482E-8B18-E0475B44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DECISION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D2ECF-9E60-4426-A8A1-B279353D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What was deliberately not automated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DA1FA-9159-4891-A0E5-4E658EEE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EF2D4-99DD-42CA-8531-89622BDE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16D"/>
                </a:solidFill>
              </a:defRPr>
            </a:pPr>
            <a:r>
              <a:rPr sz="1800" b="0">
                <a:solidFill>
                  <a:srgbClr val="53616D"/>
                </a:solidFill>
              </a:rPr>
              <a:t>This branch does not call a fresh LLM for each country or each turn. The existing C# utility/state AI remains the decision-maker; the new work makes its runs repeatable and measurable.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98F9C-0311-4519-BE46-93443B3E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048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AD045-ECF0-4A89-BA57-B430F57C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Run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D6BDB-6936-40B3-A743-F5CF6785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12 deterministic seeds</a:t>
            </a:r>
          </a:p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80 turns each</a:t>
            </a:r>
          </a:p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separate report per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94209-D202-4D27-9AB7-66095C95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5048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D033F-D770-4087-90D5-47B43C35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Next calibration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18B78-8DAD-403B-9050-62AC37D7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Compare baseline vs candidate</a:t>
            </a:r>
          </a:p>
          <a:p xmlns:a="http://schemas.openxmlformats.org/drawingml/2006/main"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Measure raids, wars, conquests</a:t>
            </a:r>
          </a:p>
          <a:p xmlns:a="http://schemas.openxmlformats.org/drawingml/2006/main"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Tune only observed bottlenecks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2375C-62EE-444A-A3FD-3218354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The batch runner waits for the Unity editor lock, so it will begin safely after the current editor session releases the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F1291-BFF2-492C-8E62-8FF51498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16D"/>
                </a:solidFill>
              </a:defRPr>
            </a:pPr>
            <a:r>
              <a:rPr sz="750" b="1">
                <a:solidFill>
                  <a:srgbClr val="53616D"/>
                </a:solidFill>
              </a:rPr>
              <a:t>KHAN'S INVASION  /  AI TUNING BRANCH  /  9</a:t>
            </a:r>
          </a:p>
        </p:txBody>
      </p:sp>
    </p:spTree>
    <p:extLst>
      <p:ext uri="{BB962C8B-B14F-4D97-AF65-F5344CB8AC3E}">
        <p14:creationId xmlns:p14="http://schemas.microsoft.com/office/powerpoint/2010/main" val="1420928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2026-08-03T16:29:17.7060000Z</dcterms:created>
  <dcterms:modified xsi:type="dcterms:W3CDTF">2026-08-03T16:29:17.7070000Z</dcterms:modified>
</coreProperties>
</file>